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178FF"/>
          </a:solidFill>
          <a:ln w="12700">
            <a:solidFill>
              <a:srgbClr val="517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10528"/>
            <a:ext cx="5669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0" kern="0" dirty="0">
                <a:solidFill>
                  <a:srgbClr val="869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КОММУНИКАЦИИ УСЗН  •  ДЛЯ ОБСУЖДЕНИЯ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691A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691A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178FF"/>
          </a:solidFill>
          <a:ln w="10160">
            <a:solidFill>
              <a:srgbClr val="517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0" y="-731520"/>
            <a:ext cx="4389120" cy="4389120"/>
          </a:xfrm>
          <a:prstGeom prst="ellipse">
            <a:avLst/>
          </a:prstGeom>
          <a:solidFill>
            <a:srgbClr val="27365B">
              <a:alpha val="90000"/>
            </a:srgbClr>
          </a:solidFill>
          <a:ln w="10160">
            <a:solidFill>
              <a:srgbClr val="151B2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2286000"/>
            <a:ext cx="2926080" cy="2926080"/>
          </a:xfrm>
          <a:prstGeom prst="ellipse">
            <a:avLst/>
          </a:prstGeom>
          <a:solidFill>
            <a:srgbClr val="173E43">
              <a:alpha val="94000"/>
            </a:srgbClr>
          </a:solidFill>
          <a:ln w="10160">
            <a:solidFill>
              <a:srgbClr val="151B2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" y="603504"/>
            <a:ext cx="2267712" cy="310896"/>
          </a:xfrm>
          <a:prstGeom prst="roundRect">
            <a:avLst/>
          </a:prstGeom>
          <a:solidFill>
            <a:srgbClr val="183941"/>
          </a:solidFill>
          <a:ln w="10160">
            <a:solidFill>
              <a:srgbClr val="183941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630936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30B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ПРЕДЛОЖЕНИЕ К РАССМОТРЕНИЮ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694944" y="1298448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коммуникации УСЗН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694944" y="2148840"/>
            <a:ext cx="7406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E8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Единое пространство для общения сотрудников,</a:t>
            </a:r>
            <a:endParaRPr lang="en-US" sz="2300" dirty="0"/>
          </a:p>
          <a:p>
            <a:pPr algn="l" indent="0" marL="0">
              <a:buNone/>
            </a:pPr>
            <a:r>
              <a:rPr lang="en-US" sz="2300" b="1" dirty="0">
                <a:solidFill>
                  <a:srgbClr val="E8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рабочих групп и подразделений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713232" y="3675888"/>
            <a:ext cx="6583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EA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проекта — внедрить внутреннюю систему, которая объединит переписку, объявления и рабочие материалы.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13232" y="4764024"/>
            <a:ext cx="1444752" cy="310896"/>
          </a:xfrm>
          <a:prstGeom prst="roundRect">
            <a:avLst/>
          </a:prstGeom>
          <a:solidFill>
            <a:srgbClr val="273148"/>
          </a:solidFill>
          <a:ln w="10160">
            <a:solidFill>
              <a:srgbClr val="27314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4791456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E8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и Linux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2331720" y="4764024"/>
            <a:ext cx="1938528" cy="310896"/>
          </a:xfrm>
          <a:prstGeom prst="roundRect">
            <a:avLst/>
          </a:prstGeom>
          <a:solidFill>
            <a:srgbClr val="273148"/>
          </a:solidFill>
          <a:ln w="10160">
            <a:solidFill>
              <a:srgbClr val="27314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04872" y="4791456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E8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внутри организации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4471416" y="4764024"/>
            <a:ext cx="1664208" cy="310896"/>
          </a:xfrm>
          <a:prstGeom prst="roundRect">
            <a:avLst/>
          </a:prstGeom>
          <a:solidFill>
            <a:srgbClr val="273148"/>
          </a:solidFill>
          <a:ln w="10160">
            <a:solidFill>
              <a:srgbClr val="27314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44568" y="4791456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E8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всех подразделений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8412480" y="4178808"/>
            <a:ext cx="2880360" cy="1417320"/>
          </a:xfrm>
          <a:prstGeom prst="roundRect">
            <a:avLst/>
          </a:prstGeom>
          <a:solidFill>
            <a:srgbClr val="5178FF"/>
          </a:solidFill>
          <a:ln w="10160">
            <a:solidFill>
              <a:srgbClr val="5178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0" y="43891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DC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686800" y="4718304"/>
            <a:ext cx="2286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Поддержать создание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внедрение системы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13232" y="64465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60" kern="0" dirty="0">
                <a:solidFill>
                  <a:srgbClr val="9EA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Концепция проекта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5603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517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ЭТО НУЖНО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85216" y="557784"/>
            <a:ext cx="109728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Рабочее сообщение иногда проходит настоящий квест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6128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Сегодня переписка, файлы и объявления могут быть разбросаны по разным каналам.</a:t>
            </a:r>
            <a:endParaRPr lang="en-US" sz="1220" dirty="0"/>
          </a:p>
        </p:txBody>
      </p:sp>
      <p:sp>
        <p:nvSpPr>
          <p:cNvPr id="5" name="Shape 3"/>
          <p:cNvSpPr/>
          <p:nvPr/>
        </p:nvSpPr>
        <p:spPr>
          <a:xfrm>
            <a:off x="594360" y="1764792"/>
            <a:ext cx="3959352" cy="4315968"/>
          </a:xfrm>
          <a:prstGeom prst="roundRect">
            <a:avLst/>
          </a:prstGeom>
          <a:solidFill>
            <a:srgbClr val="14213D"/>
          </a:solidFill>
          <a:ln w="10160">
            <a:solidFill>
              <a:srgbClr val="14213D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2075688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 сотрудник ищет</a:t>
            </a:r>
            <a:endParaRPr lang="en-US" sz="2100" dirty="0"/>
          </a:p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нужный чат…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77824" y="289864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DD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…нужный чат иногда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DD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уже ищет сотрудника.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77824" y="3721608"/>
            <a:ext cx="3246120" cy="0"/>
          </a:xfrm>
          <a:prstGeom prst="line">
            <a:avLst/>
          </a:prstGeom>
          <a:noFill/>
          <a:ln w="10160">
            <a:solidFill>
              <a:srgbClr val="41506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" y="4059936"/>
            <a:ext cx="256032" cy="256032"/>
          </a:xfrm>
          <a:prstGeom prst="ellipse">
            <a:avLst/>
          </a:prstGeom>
          <a:solidFill>
            <a:srgbClr val="E96464"/>
          </a:solidFill>
          <a:ln w="10160">
            <a:solidFill>
              <a:srgbClr val="E9646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4055364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261872" y="4041648"/>
            <a:ext cx="2862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Трудно восстановить контекст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877824" y="4608576"/>
            <a:ext cx="256032" cy="256032"/>
          </a:xfrm>
          <a:prstGeom prst="ellipse">
            <a:avLst/>
          </a:prstGeom>
          <a:solidFill>
            <a:srgbClr val="EAA43A"/>
          </a:solidFill>
          <a:ln w="10160">
            <a:solidFill>
              <a:srgbClr val="EAA43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4604004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261872" y="4590288"/>
            <a:ext cx="2862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Файлы и решения теряются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877824" y="5157216"/>
            <a:ext cx="256032" cy="256032"/>
          </a:xfrm>
          <a:prstGeom prst="ellipse">
            <a:avLst/>
          </a:prstGeom>
          <a:solidFill>
            <a:srgbClr val="5178FF"/>
          </a:solidFill>
          <a:ln w="10160">
            <a:solidFill>
              <a:srgbClr val="5178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5152644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261872" y="5138928"/>
            <a:ext cx="2862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Рассылки требуют ручной работы</a:t>
            </a:r>
            <a:endParaRPr lang="en-US" sz="1070" dirty="0"/>
          </a:p>
        </p:txBody>
      </p:sp>
      <p:sp>
        <p:nvSpPr>
          <p:cNvPr id="18" name="Text 16"/>
          <p:cNvSpPr/>
          <p:nvPr/>
        </p:nvSpPr>
        <p:spPr>
          <a:xfrm>
            <a:off x="877824" y="5623560"/>
            <a:ext cx="3246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i="1" dirty="0">
                <a:solidFill>
                  <a:srgbClr val="9EA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не проблема сотрудников — это отсутствие единого рабочего пространства.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4773168" y="1764792"/>
            <a:ext cx="6812280" cy="43159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0EA"/>
            </a:solidFill>
            <a:prstDash val="solid"/>
          </a:ln>
        </p:spPr>
      </p:sp>
      <p:pic>
        <p:nvPicPr>
          <p:cNvPr id="20" name="Image 0" descr="/home/dimas/projects/uszn-messenger/docs/presentation/assets/communication-over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64608" y="1856232"/>
            <a:ext cx="6629400" cy="3730752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8083296" y="5541264"/>
            <a:ext cx="2697480" cy="310896"/>
          </a:xfrm>
          <a:prstGeom prst="roundRect">
            <a:avLst/>
          </a:prstGeom>
          <a:solidFill>
            <a:srgbClr val="E9EEFF"/>
          </a:solidFill>
          <a:ln w="10160">
            <a:solidFill>
              <a:srgbClr val="E9EEFF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56448" y="5568696"/>
            <a:ext cx="2551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3157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ЛЕГКИЙ ПУТЬ К ПОРЯДКУ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691A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5603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517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БУДЕТ ВЫГЛЯДЕТЬ СИСТЕМА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85216" y="557784"/>
            <a:ext cx="109728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рабочее общение — в одном окне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6128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Слева чаты, в центре переписка и материалы, справа сотрудники и их текущие статусы.</a:t>
            </a:r>
            <a:endParaRPr lang="en-US" sz="1220" dirty="0"/>
          </a:p>
        </p:txBody>
      </p:sp>
      <p:sp>
        <p:nvSpPr>
          <p:cNvPr id="5" name="Shape 3"/>
          <p:cNvSpPr/>
          <p:nvPr/>
        </p:nvSpPr>
        <p:spPr>
          <a:xfrm>
            <a:off x="576072" y="1673352"/>
            <a:ext cx="11018520" cy="4498848"/>
          </a:xfrm>
          <a:prstGeom prst="roundRect">
            <a:avLst/>
          </a:prstGeom>
          <a:solidFill>
            <a:srgbClr val="151B2B"/>
          </a:solidFill>
          <a:ln w="10160">
            <a:solidFill>
              <a:srgbClr val="0D12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072" y="1673352"/>
            <a:ext cx="11018520" cy="411480"/>
          </a:xfrm>
          <a:prstGeom prst="rect">
            <a:avLst/>
          </a:prstGeom>
          <a:solidFill>
            <a:srgbClr val="101625"/>
          </a:solidFill>
          <a:ln w="10160">
            <a:solidFill>
              <a:srgbClr val="10162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" y="1783080"/>
            <a:ext cx="182880" cy="182880"/>
          </a:xfrm>
          <a:prstGeom prst="ellipse">
            <a:avLst/>
          </a:prstGeom>
          <a:solidFill>
            <a:srgbClr val="5178FF"/>
          </a:solidFill>
          <a:ln w="10160">
            <a:solidFill>
              <a:srgbClr val="5178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2376" y="1787652"/>
            <a:ext cx="182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</a:t>
            </a:r>
            <a:endParaRPr lang="en-US" sz="630" dirty="0"/>
          </a:p>
        </p:txBody>
      </p:sp>
      <p:sp>
        <p:nvSpPr>
          <p:cNvPr id="9" name="Text 7"/>
          <p:cNvSpPr/>
          <p:nvPr/>
        </p:nvSpPr>
        <p:spPr>
          <a:xfrm>
            <a:off x="987552" y="17556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E8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коммуникации УСЗН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9637776" y="1751076"/>
            <a:ext cx="1673352" cy="310896"/>
          </a:xfrm>
          <a:prstGeom prst="roundRect">
            <a:avLst/>
          </a:prstGeom>
          <a:solidFill>
            <a:srgbClr val="163B3B"/>
          </a:solidFill>
          <a:ln w="10160">
            <a:solidFill>
              <a:srgbClr val="163B3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10928" y="1778508"/>
            <a:ext cx="1527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30B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демонстрационный экран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576072" y="2084832"/>
            <a:ext cx="2075688" cy="4087368"/>
          </a:xfrm>
          <a:prstGeom prst="rect">
            <a:avLst/>
          </a:prstGeom>
          <a:solidFill>
            <a:srgbClr val="1E2638"/>
          </a:solidFill>
          <a:ln w="10160">
            <a:solidFill>
              <a:srgbClr val="1E263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51760" y="2084832"/>
            <a:ext cx="6858000" cy="4087368"/>
          </a:xfrm>
          <a:prstGeom prst="rect">
            <a:avLst/>
          </a:prstGeom>
          <a:solidFill>
            <a:srgbClr val="F8FAFD"/>
          </a:solidFill>
          <a:ln w="10160">
            <a:solidFill>
              <a:srgbClr val="F8FAFD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09760" y="2084832"/>
            <a:ext cx="2084832" cy="4087368"/>
          </a:xfrm>
          <a:prstGeom prst="rect">
            <a:avLst/>
          </a:prstGeom>
          <a:solidFill>
            <a:srgbClr val="EFF3F8"/>
          </a:solidFill>
          <a:ln w="10160">
            <a:solidFill>
              <a:srgbClr val="EFF3F8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376" y="2240280"/>
            <a:ext cx="1783080" cy="329184"/>
          </a:xfrm>
          <a:prstGeom prst="roundRect">
            <a:avLst/>
          </a:prstGeom>
          <a:solidFill>
            <a:srgbClr val="273148"/>
          </a:solidFill>
          <a:ln w="10160">
            <a:solidFill>
              <a:srgbClr val="27314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228600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9EA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685800" y="2697480"/>
            <a:ext cx="1856232" cy="393192"/>
          </a:xfrm>
          <a:prstGeom prst="roundRect">
            <a:avLst/>
          </a:prstGeom>
          <a:solidFill>
            <a:srgbClr val="2E3C61"/>
          </a:solidFill>
          <a:ln w="10160">
            <a:solidFill>
              <a:srgbClr val="2E3C61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" y="276148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E8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Объявления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2240280" y="2798064"/>
            <a:ext cx="182880" cy="182880"/>
          </a:xfrm>
          <a:prstGeom prst="ellipse">
            <a:avLst/>
          </a:prstGeom>
          <a:solidFill>
            <a:srgbClr val="E96464"/>
          </a:solidFill>
          <a:ln w="10160">
            <a:solidFill>
              <a:srgbClr val="E96464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40280" y="279806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40" dirty="0"/>
          </a:p>
        </p:txBody>
      </p:sp>
      <p:sp>
        <p:nvSpPr>
          <p:cNvPr id="21" name="Text 19"/>
          <p:cNvSpPr/>
          <p:nvPr/>
        </p:nvSpPr>
        <p:spPr>
          <a:xfrm>
            <a:off x="758952" y="32735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80" kern="0" dirty="0">
                <a:solidFill>
                  <a:srgbClr val="9EA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АКТИВНЫЕ ЧАТЫ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76656" y="3511296"/>
            <a:ext cx="1874520" cy="429768"/>
          </a:xfrm>
          <a:prstGeom prst="roundRect">
            <a:avLst/>
          </a:prstGeom>
          <a:solidFill>
            <a:srgbClr val="273148"/>
          </a:solidFill>
          <a:ln w="10160">
            <a:solidFill>
              <a:srgbClr val="273148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8952" y="3547872"/>
            <a:ext cx="310896" cy="310896"/>
          </a:xfrm>
          <a:prstGeom prst="ellipse">
            <a:avLst/>
          </a:prstGeom>
          <a:solidFill>
            <a:srgbClr val="5178FF"/>
          </a:solidFill>
          <a:ln w="10160">
            <a:solidFill>
              <a:srgbClr val="5178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" y="3557016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</a:t>
            </a:r>
            <a:endParaRPr lang="en-US" sz="670" dirty="0"/>
          </a:p>
        </p:txBody>
      </p:sp>
      <p:sp>
        <p:nvSpPr>
          <p:cNvPr id="25" name="Text 23"/>
          <p:cNvSpPr/>
          <p:nvPr/>
        </p:nvSpPr>
        <p:spPr>
          <a:xfrm>
            <a:off x="1161288" y="3547872"/>
            <a:ext cx="12344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E8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 соцзащиты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1161288" y="3730752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9EA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Новый документ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2267712" y="3621024"/>
            <a:ext cx="164592" cy="164592"/>
          </a:xfrm>
          <a:prstGeom prst="ellipse">
            <a:avLst/>
          </a:prstGeom>
          <a:solidFill>
            <a:srgbClr val="5178FF"/>
          </a:solidFill>
          <a:ln w="10160">
            <a:solidFill>
              <a:srgbClr val="5178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67712" y="361645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590" dirty="0"/>
          </a:p>
        </p:txBody>
      </p:sp>
      <p:sp>
        <p:nvSpPr>
          <p:cNvPr id="29" name="Shape 27"/>
          <p:cNvSpPr/>
          <p:nvPr/>
        </p:nvSpPr>
        <p:spPr>
          <a:xfrm>
            <a:off x="758952" y="4059936"/>
            <a:ext cx="310896" cy="310896"/>
          </a:xfrm>
          <a:prstGeom prst="ellipse">
            <a:avLst/>
          </a:prstGeom>
          <a:solidFill>
            <a:srgbClr val="30B8A5"/>
          </a:solidFill>
          <a:ln w="10160">
            <a:solidFill>
              <a:srgbClr val="30B8A5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952" y="4069080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КП</a:t>
            </a:r>
            <a:endParaRPr lang="en-US" sz="670" dirty="0"/>
          </a:p>
        </p:txBody>
      </p:sp>
      <p:sp>
        <p:nvSpPr>
          <p:cNvPr id="31" name="Text 29"/>
          <p:cNvSpPr/>
          <p:nvPr/>
        </p:nvSpPr>
        <p:spPr>
          <a:xfrm>
            <a:off x="1161288" y="4059936"/>
            <a:ext cx="12344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C7C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Кадровые вопросы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1161288" y="4242816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9EA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новых сообщений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758952" y="4572000"/>
            <a:ext cx="310896" cy="310896"/>
          </a:xfrm>
          <a:prstGeom prst="ellipse">
            <a:avLst/>
          </a:prstGeom>
          <a:solidFill>
            <a:srgbClr val="8567C8"/>
          </a:solidFill>
          <a:ln w="10160">
            <a:solidFill>
              <a:srgbClr val="8567C8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8952" y="4581144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</a:t>
            </a:r>
            <a:endParaRPr lang="en-US" sz="670" dirty="0"/>
          </a:p>
        </p:txBody>
      </p:sp>
      <p:sp>
        <p:nvSpPr>
          <p:cNvPr id="35" name="Text 33"/>
          <p:cNvSpPr/>
          <p:nvPr/>
        </p:nvSpPr>
        <p:spPr>
          <a:xfrm>
            <a:off x="1161288" y="4572000"/>
            <a:ext cx="12344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C7C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Анна Волкова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1161288" y="4754880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9EA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связи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2267712" y="4645152"/>
            <a:ext cx="164592" cy="164592"/>
          </a:xfrm>
          <a:prstGeom prst="ellipse">
            <a:avLst/>
          </a:prstGeom>
          <a:solidFill>
            <a:srgbClr val="5178FF"/>
          </a:solidFill>
          <a:ln w="10160">
            <a:solidFill>
              <a:srgbClr val="5178F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67712" y="464058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90" dirty="0"/>
          </a:p>
        </p:txBody>
      </p:sp>
      <p:sp>
        <p:nvSpPr>
          <p:cNvPr id="39" name="Shape 37"/>
          <p:cNvSpPr/>
          <p:nvPr/>
        </p:nvSpPr>
        <p:spPr>
          <a:xfrm>
            <a:off x="758952" y="5084064"/>
            <a:ext cx="310896" cy="310896"/>
          </a:xfrm>
          <a:prstGeom prst="ellipse">
            <a:avLst/>
          </a:prstGeom>
          <a:solidFill>
            <a:srgbClr val="EAA43A"/>
          </a:solidFill>
          <a:ln w="10160">
            <a:solidFill>
              <a:srgbClr val="EAA43A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8952" y="5093208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</a:t>
            </a:r>
            <a:endParaRPr lang="en-US" sz="670" dirty="0"/>
          </a:p>
        </p:txBody>
      </p:sp>
      <p:sp>
        <p:nvSpPr>
          <p:cNvPr id="41" name="Text 39"/>
          <p:cNvSpPr/>
          <p:nvPr/>
        </p:nvSpPr>
        <p:spPr>
          <a:xfrm>
            <a:off x="1161288" y="5084064"/>
            <a:ext cx="12344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C7C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ИТ-поддержка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1161288" y="5266944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9EA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новых сообщений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2651760" y="2084832"/>
            <a:ext cx="685800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871216" y="215798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 Управление соцзащиты</a:t>
            </a:r>
            <a:endParaRPr lang="en-US" sz="980" dirty="0"/>
          </a:p>
        </p:txBody>
      </p:sp>
      <p:sp>
        <p:nvSpPr>
          <p:cNvPr id="45" name="Text 43"/>
          <p:cNvSpPr/>
          <p:nvPr/>
        </p:nvSpPr>
        <p:spPr>
          <a:xfrm>
            <a:off x="2871216" y="2377440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Чат подразделения  •  47 сотрудников</a:t>
            </a:r>
            <a:endParaRPr lang="en-US" sz="690" dirty="0"/>
          </a:p>
        </p:txBody>
      </p:sp>
      <p:sp>
        <p:nvSpPr>
          <p:cNvPr id="46" name="Shape 44"/>
          <p:cNvSpPr/>
          <p:nvPr/>
        </p:nvSpPr>
        <p:spPr>
          <a:xfrm>
            <a:off x="8156448" y="2194560"/>
            <a:ext cx="1069848" cy="310896"/>
          </a:xfrm>
          <a:prstGeom prst="roundRect">
            <a:avLst/>
          </a:prstGeom>
          <a:solidFill>
            <a:srgbClr val="E9EEFF"/>
          </a:solidFill>
          <a:ln w="10160">
            <a:solidFill>
              <a:srgbClr val="E9EEFF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29600" y="2221992"/>
            <a:ext cx="923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3157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Закреплено 4</a:t>
            </a:r>
            <a:endParaRPr lang="en-US" sz="820" dirty="0"/>
          </a:p>
        </p:txBody>
      </p:sp>
      <p:sp>
        <p:nvSpPr>
          <p:cNvPr id="48" name="Shape 46"/>
          <p:cNvSpPr/>
          <p:nvPr/>
        </p:nvSpPr>
        <p:spPr>
          <a:xfrm>
            <a:off x="2651760" y="2596896"/>
            <a:ext cx="6858000" cy="0"/>
          </a:xfrm>
          <a:prstGeom prst="line">
            <a:avLst/>
          </a:prstGeom>
          <a:noFill/>
          <a:ln w="8890">
            <a:solidFill>
              <a:srgbClr val="D9E0E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880360" y="2816352"/>
            <a:ext cx="310896" cy="310896"/>
          </a:xfrm>
          <a:prstGeom prst="ellipse">
            <a:avLst/>
          </a:prstGeom>
          <a:solidFill>
            <a:srgbClr val="7584A8"/>
          </a:solidFill>
          <a:ln w="10160">
            <a:solidFill>
              <a:srgbClr val="7584A8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880360" y="2825496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МК</a:t>
            </a:r>
            <a:endParaRPr lang="en-US" sz="670" dirty="0"/>
          </a:p>
        </p:txBody>
      </p:sp>
      <p:sp>
        <p:nvSpPr>
          <p:cNvPr id="51" name="Text 49"/>
          <p:cNvSpPr/>
          <p:nvPr/>
        </p:nvSpPr>
        <p:spPr>
          <a:xfrm>
            <a:off x="3300984" y="279806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Мария Кузнецова</a:t>
            </a:r>
            <a:endParaRPr lang="en-US" sz="810" dirty="0"/>
          </a:p>
        </p:txBody>
      </p:sp>
      <p:sp>
        <p:nvSpPr>
          <p:cNvPr id="52" name="Text 50"/>
          <p:cNvSpPr/>
          <p:nvPr/>
        </p:nvSpPr>
        <p:spPr>
          <a:xfrm>
            <a:off x="4709160" y="279806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10:28</a:t>
            </a:r>
            <a:endParaRPr lang="en-US" sz="640" dirty="0"/>
          </a:p>
        </p:txBody>
      </p:sp>
      <p:sp>
        <p:nvSpPr>
          <p:cNvPr id="53" name="Text 51"/>
          <p:cNvSpPr/>
          <p:nvPr/>
        </p:nvSpPr>
        <p:spPr>
          <a:xfrm>
            <a:off x="3300984" y="3017520"/>
            <a:ext cx="5925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Коллеги, разместила обновленный график приема.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300984" y="3300984"/>
            <a:ext cx="2240280" cy="448056"/>
          </a:xfrm>
          <a:prstGeom prst="roundRect">
            <a:avLst/>
          </a:prstGeom>
          <a:solidFill>
            <a:srgbClr val="EDF1F7"/>
          </a:solidFill>
          <a:ln w="10160">
            <a:solidFill>
              <a:srgbClr val="EDF1F7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419856" y="3401568"/>
            <a:ext cx="256032" cy="246888"/>
          </a:xfrm>
          <a:prstGeom prst="roundRect">
            <a:avLst/>
          </a:prstGeom>
          <a:solidFill>
            <a:srgbClr val="E9EEFF"/>
          </a:solidFill>
          <a:ln w="10160">
            <a:solidFill>
              <a:srgbClr val="E9EEFF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19856" y="341071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517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</a:t>
            </a:r>
            <a:endParaRPr lang="en-US" sz="570" dirty="0"/>
          </a:p>
        </p:txBody>
      </p:sp>
      <p:sp>
        <p:nvSpPr>
          <p:cNvPr id="57" name="Text 55"/>
          <p:cNvSpPr/>
          <p:nvPr/>
        </p:nvSpPr>
        <p:spPr>
          <a:xfrm>
            <a:off x="3776472" y="336499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График_приема_август.pdf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3776472" y="3557016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 МБ</a:t>
            </a:r>
            <a:endParaRPr lang="en-US" sz="620" dirty="0"/>
          </a:p>
        </p:txBody>
      </p:sp>
      <p:sp>
        <p:nvSpPr>
          <p:cNvPr id="59" name="Shape 57"/>
          <p:cNvSpPr/>
          <p:nvPr/>
        </p:nvSpPr>
        <p:spPr>
          <a:xfrm>
            <a:off x="2880360" y="4014216"/>
            <a:ext cx="310896" cy="310896"/>
          </a:xfrm>
          <a:prstGeom prst="ellipse">
            <a:avLst/>
          </a:prstGeom>
          <a:solidFill>
            <a:srgbClr val="5178FF"/>
          </a:solidFill>
          <a:ln w="10160">
            <a:solidFill>
              <a:srgbClr val="5178FF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880360" y="4023360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АП</a:t>
            </a:r>
            <a:endParaRPr lang="en-US" sz="670" dirty="0"/>
          </a:p>
        </p:txBody>
      </p:sp>
      <p:sp>
        <p:nvSpPr>
          <p:cNvPr id="61" name="Text 59"/>
          <p:cNvSpPr/>
          <p:nvPr/>
        </p:nvSpPr>
        <p:spPr>
          <a:xfrm>
            <a:off x="3300984" y="399592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Алексей Петров</a:t>
            </a:r>
            <a:endParaRPr lang="en-US" sz="810" dirty="0"/>
          </a:p>
        </p:txBody>
      </p:sp>
      <p:sp>
        <p:nvSpPr>
          <p:cNvPr id="62" name="Text 60"/>
          <p:cNvSpPr/>
          <p:nvPr/>
        </p:nvSpPr>
        <p:spPr>
          <a:xfrm>
            <a:off x="4599432" y="39959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10:34</a:t>
            </a:r>
            <a:endParaRPr lang="en-US" sz="640" dirty="0"/>
          </a:p>
        </p:txBody>
      </p:sp>
      <p:sp>
        <p:nvSpPr>
          <p:cNvPr id="63" name="Shape 61"/>
          <p:cNvSpPr/>
          <p:nvPr/>
        </p:nvSpPr>
        <p:spPr>
          <a:xfrm>
            <a:off x="3300984" y="4242816"/>
            <a:ext cx="5897880" cy="804672"/>
          </a:xfrm>
          <a:prstGeom prst="roundRect">
            <a:avLst/>
          </a:prstGeom>
          <a:solidFill>
            <a:srgbClr val="E9EEFF"/>
          </a:solidFill>
          <a:ln w="10160">
            <a:solidFill>
              <a:srgbClr val="C8D4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474720" y="4398264"/>
            <a:ext cx="621792" cy="310896"/>
          </a:xfrm>
          <a:prstGeom prst="roundRect">
            <a:avLst/>
          </a:prstGeom>
          <a:solidFill>
            <a:srgbClr val="D7E0FF"/>
          </a:solidFill>
          <a:ln w="10160">
            <a:solidFill>
              <a:srgbClr val="D7E0FF">
                <a:alpha val="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547872" y="4425696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3157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ВАЖНО</a:t>
            </a:r>
            <a:endParaRPr lang="en-US" sz="820" dirty="0"/>
          </a:p>
        </p:txBody>
      </p:sp>
      <p:sp>
        <p:nvSpPr>
          <p:cNvPr id="66" name="Text 64"/>
          <p:cNvSpPr/>
          <p:nvPr/>
        </p:nvSpPr>
        <p:spPr>
          <a:xfrm>
            <a:off x="3474720" y="4700016"/>
            <a:ext cx="5440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Обновленный график действует с 1 августа.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2651760" y="5495544"/>
            <a:ext cx="6858000" cy="676656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852928" y="5605272"/>
            <a:ext cx="6455664" cy="384048"/>
          </a:xfrm>
          <a:prstGeom prst="roundRect">
            <a:avLst/>
          </a:prstGeom>
          <a:solidFill>
            <a:srgbClr val="F1F4F8"/>
          </a:solidFill>
          <a:ln w="10160">
            <a:solidFill>
              <a:srgbClr val="F1F4F8">
                <a:alpha val="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962656" y="5660136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17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3273552" y="5669280"/>
            <a:ext cx="23774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Написать сообщение…</a:t>
            </a:r>
            <a:endParaRPr lang="en-US" sz="760" dirty="0"/>
          </a:p>
        </p:txBody>
      </p:sp>
      <p:sp>
        <p:nvSpPr>
          <p:cNvPr id="71" name="Shape 69"/>
          <p:cNvSpPr/>
          <p:nvPr/>
        </p:nvSpPr>
        <p:spPr>
          <a:xfrm>
            <a:off x="8933688" y="5660136"/>
            <a:ext cx="265176" cy="265176"/>
          </a:xfrm>
          <a:prstGeom prst="ellipse">
            <a:avLst/>
          </a:prstGeom>
          <a:solidFill>
            <a:srgbClr val="5178FF"/>
          </a:solidFill>
          <a:ln w="10160">
            <a:solidFill>
              <a:srgbClr val="5178FF">
                <a:alpha val="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933688" y="5650992"/>
            <a:ext cx="265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9710928" y="224942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spc="60" kern="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СОТРУДНИКИ — 47</a:t>
            </a:r>
            <a:endParaRPr lang="en-US" sz="720" dirty="0"/>
          </a:p>
        </p:txBody>
      </p:sp>
      <p:sp>
        <p:nvSpPr>
          <p:cNvPr id="74" name="Shape 72"/>
          <p:cNvSpPr/>
          <p:nvPr/>
        </p:nvSpPr>
        <p:spPr>
          <a:xfrm>
            <a:off x="9674352" y="2578608"/>
            <a:ext cx="1755648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820656" y="264261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Найти сотрудника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9738360" y="3136392"/>
            <a:ext cx="310896" cy="310896"/>
          </a:xfrm>
          <a:prstGeom prst="ellipse">
            <a:avLst/>
          </a:prstGeom>
          <a:solidFill>
            <a:srgbClr val="5178FF"/>
          </a:solidFill>
          <a:ln w="10160">
            <a:solidFill>
              <a:srgbClr val="5178FF">
                <a:alpha val="0"/>
              </a:srgbClr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738360" y="3145536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АП</a:t>
            </a:r>
            <a:endParaRPr lang="en-US" sz="670" dirty="0"/>
          </a:p>
        </p:txBody>
      </p:sp>
      <p:sp>
        <p:nvSpPr>
          <p:cNvPr id="78" name="Shape 76"/>
          <p:cNvSpPr/>
          <p:nvPr/>
        </p:nvSpPr>
        <p:spPr>
          <a:xfrm>
            <a:off x="9976104" y="3364992"/>
            <a:ext cx="82296" cy="82296"/>
          </a:xfrm>
          <a:prstGeom prst="ellipse">
            <a:avLst/>
          </a:prstGeom>
          <a:solidFill>
            <a:srgbClr val="37A66B"/>
          </a:solidFill>
          <a:ln w="10160">
            <a:solidFill>
              <a:srgbClr val="37A66B">
                <a:alpha val="0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0168128" y="3136392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Алексей Петров</a:t>
            </a:r>
            <a:endParaRPr lang="en-US" sz="760" dirty="0"/>
          </a:p>
        </p:txBody>
      </p:sp>
      <p:sp>
        <p:nvSpPr>
          <p:cNvPr id="80" name="Text 78"/>
          <p:cNvSpPr/>
          <p:nvPr/>
        </p:nvSpPr>
        <p:spPr>
          <a:xfrm>
            <a:off x="10168128" y="332841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Руководитель</a:t>
            </a:r>
            <a:endParaRPr lang="en-US" sz="640" dirty="0"/>
          </a:p>
        </p:txBody>
      </p:sp>
      <p:sp>
        <p:nvSpPr>
          <p:cNvPr id="81" name="Shape 79"/>
          <p:cNvSpPr/>
          <p:nvPr/>
        </p:nvSpPr>
        <p:spPr>
          <a:xfrm>
            <a:off x="9738360" y="3666744"/>
            <a:ext cx="310896" cy="310896"/>
          </a:xfrm>
          <a:prstGeom prst="ellipse">
            <a:avLst/>
          </a:prstGeom>
          <a:solidFill>
            <a:srgbClr val="7584A8"/>
          </a:solidFill>
          <a:ln w="10160">
            <a:solidFill>
              <a:srgbClr val="7584A8">
                <a:alpha val="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738360" y="3675888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МК</a:t>
            </a:r>
            <a:endParaRPr lang="en-US" sz="670" dirty="0"/>
          </a:p>
        </p:txBody>
      </p:sp>
      <p:sp>
        <p:nvSpPr>
          <p:cNvPr id="83" name="Shape 81"/>
          <p:cNvSpPr/>
          <p:nvPr/>
        </p:nvSpPr>
        <p:spPr>
          <a:xfrm>
            <a:off x="9976104" y="3895344"/>
            <a:ext cx="82296" cy="82296"/>
          </a:xfrm>
          <a:prstGeom prst="ellipse">
            <a:avLst/>
          </a:prstGeom>
          <a:solidFill>
            <a:srgbClr val="37A66B"/>
          </a:solidFill>
          <a:ln w="10160">
            <a:solidFill>
              <a:srgbClr val="37A66B">
                <a:alpha val="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0168128" y="3666744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Мария Кузнецова</a:t>
            </a:r>
            <a:endParaRPr lang="en-US" sz="760" dirty="0"/>
          </a:p>
        </p:txBody>
      </p:sp>
      <p:sp>
        <p:nvSpPr>
          <p:cNvPr id="85" name="Text 83"/>
          <p:cNvSpPr/>
          <p:nvPr/>
        </p:nvSpPr>
        <p:spPr>
          <a:xfrm>
            <a:off x="10168128" y="385876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Специалист</a:t>
            </a:r>
            <a:endParaRPr lang="en-US" sz="640" dirty="0"/>
          </a:p>
        </p:txBody>
      </p:sp>
      <p:sp>
        <p:nvSpPr>
          <p:cNvPr id="86" name="Shape 84"/>
          <p:cNvSpPr/>
          <p:nvPr/>
        </p:nvSpPr>
        <p:spPr>
          <a:xfrm>
            <a:off x="9738360" y="4197096"/>
            <a:ext cx="310896" cy="310896"/>
          </a:xfrm>
          <a:prstGeom prst="ellipse">
            <a:avLst/>
          </a:prstGeom>
          <a:solidFill>
            <a:srgbClr val="30B8A5"/>
          </a:solidFill>
          <a:ln w="10160">
            <a:solidFill>
              <a:srgbClr val="30B8A5">
                <a:alpha val="0"/>
              </a:srgbClr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9738360" y="4206240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ДС</a:t>
            </a:r>
            <a:endParaRPr lang="en-US" sz="670" dirty="0"/>
          </a:p>
        </p:txBody>
      </p:sp>
      <p:sp>
        <p:nvSpPr>
          <p:cNvPr id="88" name="Shape 86"/>
          <p:cNvSpPr/>
          <p:nvPr/>
        </p:nvSpPr>
        <p:spPr>
          <a:xfrm>
            <a:off x="9976104" y="4425696"/>
            <a:ext cx="82296" cy="82296"/>
          </a:xfrm>
          <a:prstGeom prst="ellipse">
            <a:avLst/>
          </a:prstGeom>
          <a:solidFill>
            <a:srgbClr val="EAA43A"/>
          </a:solidFill>
          <a:ln w="10160">
            <a:solidFill>
              <a:srgbClr val="EAA43A">
                <a:alpha val="0"/>
              </a:srgbClr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0168128" y="4197096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Дмитрий Смирнов</a:t>
            </a:r>
            <a:endParaRPr lang="en-US" sz="760" dirty="0"/>
          </a:p>
        </p:txBody>
      </p:sp>
      <p:sp>
        <p:nvSpPr>
          <p:cNvPr id="90" name="Text 88"/>
          <p:cNvSpPr/>
          <p:nvPr/>
        </p:nvSpPr>
        <p:spPr>
          <a:xfrm>
            <a:off x="10168128" y="438912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Юрист</a:t>
            </a:r>
            <a:endParaRPr lang="en-US" sz="640" dirty="0"/>
          </a:p>
        </p:txBody>
      </p:sp>
      <p:sp>
        <p:nvSpPr>
          <p:cNvPr id="91" name="Shape 89"/>
          <p:cNvSpPr/>
          <p:nvPr/>
        </p:nvSpPr>
        <p:spPr>
          <a:xfrm>
            <a:off x="9738360" y="4727448"/>
            <a:ext cx="310896" cy="310896"/>
          </a:xfrm>
          <a:prstGeom prst="ellipse">
            <a:avLst/>
          </a:prstGeom>
          <a:solidFill>
            <a:srgbClr val="8567C8"/>
          </a:solidFill>
          <a:ln w="10160">
            <a:solidFill>
              <a:srgbClr val="8567C8">
                <a:alpha val="0"/>
              </a:srgbClr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738360" y="4736592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ЕО</a:t>
            </a:r>
            <a:endParaRPr lang="en-US" sz="670" dirty="0"/>
          </a:p>
        </p:txBody>
      </p:sp>
      <p:sp>
        <p:nvSpPr>
          <p:cNvPr id="93" name="Shape 91"/>
          <p:cNvSpPr/>
          <p:nvPr/>
        </p:nvSpPr>
        <p:spPr>
          <a:xfrm>
            <a:off x="9976104" y="4956048"/>
            <a:ext cx="82296" cy="82296"/>
          </a:xfrm>
          <a:prstGeom prst="ellipse">
            <a:avLst/>
          </a:prstGeom>
          <a:solidFill>
            <a:srgbClr val="37A66B"/>
          </a:solidFill>
          <a:ln w="10160">
            <a:solidFill>
              <a:srgbClr val="37A66B">
                <a:alpha val="0"/>
              </a:srgbClr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0168128" y="4727448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Елена Орлова</a:t>
            </a:r>
            <a:endParaRPr lang="en-US" sz="760" dirty="0"/>
          </a:p>
        </p:txBody>
      </p:sp>
      <p:sp>
        <p:nvSpPr>
          <p:cNvPr id="95" name="Text 93"/>
          <p:cNvSpPr/>
          <p:nvPr/>
        </p:nvSpPr>
        <p:spPr>
          <a:xfrm>
            <a:off x="10168128" y="491947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Кадры</a:t>
            </a:r>
            <a:endParaRPr lang="en-US" sz="640" dirty="0"/>
          </a:p>
        </p:txBody>
      </p:sp>
      <p:sp>
        <p:nvSpPr>
          <p:cNvPr id="96" name="Shape 94"/>
          <p:cNvSpPr/>
          <p:nvPr/>
        </p:nvSpPr>
        <p:spPr>
          <a:xfrm>
            <a:off x="9738360" y="5257800"/>
            <a:ext cx="310896" cy="310896"/>
          </a:xfrm>
          <a:prstGeom prst="ellipse">
            <a:avLst/>
          </a:prstGeom>
          <a:solidFill>
            <a:srgbClr val="EAA43A"/>
          </a:solidFill>
          <a:ln w="10160">
            <a:solidFill>
              <a:srgbClr val="EAA43A">
                <a:alpha val="0"/>
              </a:srgbClr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9738360" y="5266944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</a:t>
            </a:r>
            <a:endParaRPr lang="en-US" sz="670" dirty="0"/>
          </a:p>
        </p:txBody>
      </p:sp>
      <p:sp>
        <p:nvSpPr>
          <p:cNvPr id="98" name="Shape 96"/>
          <p:cNvSpPr/>
          <p:nvPr/>
        </p:nvSpPr>
        <p:spPr>
          <a:xfrm>
            <a:off x="9976104" y="5486400"/>
            <a:ext cx="82296" cy="82296"/>
          </a:xfrm>
          <a:prstGeom prst="ellipse">
            <a:avLst/>
          </a:prstGeom>
          <a:solidFill>
            <a:srgbClr val="98A2B3"/>
          </a:solidFill>
          <a:ln w="10160">
            <a:solidFill>
              <a:srgbClr val="98A2B3">
                <a:alpha val="0"/>
              </a:srgbClr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0168128" y="5257800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Антон Ковалев</a:t>
            </a:r>
            <a:endParaRPr lang="en-US" sz="760" dirty="0"/>
          </a:p>
        </p:txBody>
      </p:sp>
      <p:sp>
        <p:nvSpPr>
          <p:cNvPr id="100" name="Text 98"/>
          <p:cNvSpPr/>
          <p:nvPr/>
        </p:nvSpPr>
        <p:spPr>
          <a:xfrm>
            <a:off x="10168128" y="544982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</a:t>
            </a:r>
            <a:endParaRPr lang="en-US" sz="640" dirty="0"/>
          </a:p>
        </p:txBody>
      </p:sp>
      <p:sp>
        <p:nvSpPr>
          <p:cNvPr id="101" name="Shape 99"/>
          <p:cNvSpPr/>
          <p:nvPr/>
        </p:nvSpPr>
        <p:spPr>
          <a:xfrm>
            <a:off x="9692640" y="5239512"/>
            <a:ext cx="1719072" cy="621792"/>
          </a:xfrm>
          <a:prstGeom prst="roundRect">
            <a:avLst/>
          </a:prstGeom>
          <a:solidFill>
            <a:srgbClr val="E4F5EB"/>
          </a:solidFill>
          <a:ln w="10160">
            <a:solidFill>
              <a:srgbClr val="E4F5EB">
                <a:alpha val="0"/>
              </a:srgbClr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9875520" y="53492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37A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34 сотрудника на связи</a:t>
            </a:r>
            <a:endParaRPr lang="en-US" sz="740" dirty="0"/>
          </a:p>
        </p:txBody>
      </p:sp>
      <p:sp>
        <p:nvSpPr>
          <p:cNvPr id="103" name="Text 101"/>
          <p:cNvSpPr/>
          <p:nvPr/>
        </p:nvSpPr>
        <p:spPr>
          <a:xfrm>
            <a:off x="9875520" y="5596128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Статусы помогают выбрать удобное время</a:t>
            </a:r>
            <a:endParaRPr lang="en-US" sz="6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691A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5603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517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ВОЗМОЖНОСТИ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85216" y="557784"/>
            <a:ext cx="109728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объединяет повседневные рабочие сценарии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6128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Вместо набора разрозненных средств — одна понятная точка для общения и информирования.</a:t>
            </a:r>
            <a:endParaRPr lang="en-US" sz="1220" dirty="0"/>
          </a:p>
        </p:txBody>
      </p:sp>
      <p:sp>
        <p:nvSpPr>
          <p:cNvPr id="5" name="Shape 3"/>
          <p:cNvSpPr/>
          <p:nvPr/>
        </p:nvSpPr>
        <p:spPr>
          <a:xfrm>
            <a:off x="4773168" y="2075688"/>
            <a:ext cx="2651760" cy="2651760"/>
          </a:xfrm>
          <a:prstGeom prst="ellipse">
            <a:avLst/>
          </a:prstGeom>
          <a:solidFill>
            <a:srgbClr val="14213D"/>
          </a:solidFill>
          <a:ln w="10160">
            <a:solidFill>
              <a:srgbClr val="14213D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11496" y="2414016"/>
            <a:ext cx="1975104" cy="1975104"/>
          </a:xfrm>
          <a:prstGeom prst="ellipse">
            <a:avLst/>
          </a:prstGeom>
          <a:solidFill>
            <a:srgbClr val="202D4B"/>
          </a:solidFill>
          <a:ln w="10160">
            <a:solidFill>
              <a:srgbClr val="202D4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39512" y="2807208"/>
            <a:ext cx="1719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коммуникации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УСЗН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67512" y="1792224"/>
            <a:ext cx="3163824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0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" y="2048256"/>
            <a:ext cx="502920" cy="502920"/>
          </a:xfrm>
          <a:prstGeom prst="ellipse">
            <a:avLst/>
          </a:prstGeom>
          <a:solidFill>
            <a:srgbClr val="E9EEFF"/>
          </a:solidFill>
          <a:ln w="10160">
            <a:solidFill>
              <a:srgbClr val="E9EE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2057400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17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27048" y="194767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Личные и групповые чаты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527048" y="229514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Общение один на один, по теме или в подразделении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667512" y="3163824"/>
            <a:ext cx="3163824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0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0392" y="3419856"/>
            <a:ext cx="502920" cy="502920"/>
          </a:xfrm>
          <a:prstGeom prst="ellipse">
            <a:avLst/>
          </a:prstGeom>
          <a:solidFill>
            <a:srgbClr val="DDF7F2"/>
          </a:solidFill>
          <a:ln w="10160">
            <a:solidFill>
              <a:srgbClr val="DDF7F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3429000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0B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27048" y="331927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Объявления нужной аудитории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527048" y="366674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Всем сотрудникам, группе, подразделению или по тегу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667512" y="4535424"/>
            <a:ext cx="3163824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0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0392" y="4791456"/>
            <a:ext cx="502920" cy="502920"/>
          </a:xfrm>
          <a:prstGeom prst="ellipse">
            <a:avLst/>
          </a:prstGeom>
          <a:solidFill>
            <a:srgbClr val="EEE8FA"/>
          </a:solidFill>
          <a:ln w="10160">
            <a:solidFill>
              <a:srgbClr val="EEE8F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" y="4800600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567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27048" y="469087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Файлы и фотографии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527048" y="503834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Материалы остаются рядом с обсуждением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8357616" y="1792224"/>
            <a:ext cx="3163824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0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40496" y="2048256"/>
            <a:ext cx="502920" cy="502920"/>
          </a:xfrm>
          <a:prstGeom prst="ellipse">
            <a:avLst/>
          </a:prstGeom>
          <a:solidFill>
            <a:srgbClr val="FFF3D8"/>
          </a:solidFill>
          <a:ln w="10160">
            <a:solidFill>
              <a:srgbClr val="FFF3D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40496" y="2057400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⌕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217152" y="194767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 и закрепления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217152" y="229514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Важное можно найти, а ключевое — закрепить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8357616" y="3163824"/>
            <a:ext cx="3163824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0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40496" y="3419856"/>
            <a:ext cx="502920" cy="502920"/>
          </a:xfrm>
          <a:prstGeom prst="ellipse">
            <a:avLst/>
          </a:prstGeom>
          <a:solidFill>
            <a:srgbClr val="E4F5EB"/>
          </a:solidFill>
          <a:ln w="10160">
            <a:solidFill>
              <a:srgbClr val="E4F5EB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40496" y="3429000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A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217152" y="331927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Статусы и «Не беспокоить»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9217152" y="366674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Коллеги видят доступность, автоответ сообщает об отсутствии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8357616" y="4535424"/>
            <a:ext cx="3163824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0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40496" y="4791456"/>
            <a:ext cx="502920" cy="502920"/>
          </a:xfrm>
          <a:prstGeom prst="ellipse">
            <a:avLst/>
          </a:prstGeom>
          <a:solidFill>
            <a:srgbClr val="FFE7E7"/>
          </a:solidFill>
          <a:ln w="10160">
            <a:solidFill>
              <a:srgbClr val="FFE7E7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40496" y="4800600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6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217152" y="469087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Упоминания сотрудников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9217152" y="503834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Быстрый способ привлечь внимание нужного человека</a:t>
            </a:r>
            <a:endParaRPr lang="en-US" sz="860" dirty="0"/>
          </a:p>
        </p:txBody>
      </p:sp>
      <p:sp>
        <p:nvSpPr>
          <p:cNvPr id="38" name="Shape 36"/>
          <p:cNvSpPr/>
          <p:nvPr/>
        </p:nvSpPr>
        <p:spPr>
          <a:xfrm>
            <a:off x="3831336" y="2304288"/>
            <a:ext cx="941832" cy="640080"/>
          </a:xfrm>
          <a:prstGeom prst="line">
            <a:avLst/>
          </a:prstGeom>
          <a:noFill/>
          <a:ln w="15240">
            <a:solidFill>
              <a:srgbClr val="B8C4D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831336" y="3675888"/>
            <a:ext cx="941832" cy="-274320"/>
          </a:xfrm>
          <a:prstGeom prst="line">
            <a:avLst/>
          </a:prstGeom>
          <a:noFill/>
          <a:ln w="15240">
            <a:solidFill>
              <a:srgbClr val="B8C4D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831336" y="5047488"/>
            <a:ext cx="941832" cy="-1051560"/>
          </a:xfrm>
          <a:prstGeom prst="line">
            <a:avLst/>
          </a:prstGeom>
          <a:noFill/>
          <a:ln w="15240">
            <a:solidFill>
              <a:srgbClr val="B8C4D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24928" y="2944368"/>
            <a:ext cx="932688" cy="-640080"/>
          </a:xfrm>
          <a:prstGeom prst="line">
            <a:avLst/>
          </a:prstGeom>
          <a:noFill/>
          <a:ln w="15240">
            <a:solidFill>
              <a:srgbClr val="B8C4D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424928" y="3401568"/>
            <a:ext cx="932688" cy="274320"/>
          </a:xfrm>
          <a:prstGeom prst="line">
            <a:avLst/>
          </a:prstGeom>
          <a:noFill/>
          <a:ln w="15240">
            <a:solidFill>
              <a:srgbClr val="B8C4D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24928" y="3995928"/>
            <a:ext cx="932688" cy="1051560"/>
          </a:xfrm>
          <a:prstGeom prst="line">
            <a:avLst/>
          </a:prstGeom>
          <a:noFill/>
          <a:ln w="15240">
            <a:solidFill>
              <a:srgbClr val="B8C4D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050792" y="5102352"/>
            <a:ext cx="4087368" cy="612648"/>
          </a:xfrm>
          <a:prstGeom prst="roundRect">
            <a:avLst/>
          </a:prstGeom>
          <a:solidFill>
            <a:srgbClr val="E9EEFF"/>
          </a:solidFill>
          <a:ln w="10160">
            <a:solidFill>
              <a:srgbClr val="E9EEFF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70248" y="5212080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3157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дальнейшем можно добавить запрос подтверждения прочтения важных сообщений.</a:t>
            </a:r>
            <a:endParaRPr lang="en-US" sz="8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691A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5603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517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ДАСТ ПЕРЕХОД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85216" y="557784"/>
            <a:ext cx="109728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 множества каналов — в единое рабочее пространство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6128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Ожидаемый результат: меньше потерь информации, быстрее координация и понятнее доступ к рабочим материалам.</a:t>
            </a:r>
            <a:endParaRPr lang="en-US" sz="1220" dirty="0"/>
          </a:p>
        </p:txBody>
      </p:sp>
      <p:sp>
        <p:nvSpPr>
          <p:cNvPr id="5" name="Shape 3"/>
          <p:cNvSpPr/>
          <p:nvPr/>
        </p:nvSpPr>
        <p:spPr>
          <a:xfrm>
            <a:off x="612648" y="1755648"/>
            <a:ext cx="3776472" cy="1975104"/>
          </a:xfrm>
          <a:prstGeom prst="roundRect">
            <a:avLst/>
          </a:prstGeom>
          <a:solidFill>
            <a:srgbClr val="F0F2F6"/>
          </a:solidFill>
          <a:ln w="10160">
            <a:solidFill>
              <a:srgbClr val="F0F2F6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1993392"/>
            <a:ext cx="749808" cy="310896"/>
          </a:xfrm>
          <a:prstGeom prst="roundRect">
            <a:avLst/>
          </a:prstGeom>
          <a:solidFill>
            <a:srgbClr val="FFE7E7"/>
          </a:solidFill>
          <a:ln w="10160">
            <a:solidFill>
              <a:srgbClr val="FFE7E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020824"/>
            <a:ext cx="603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E96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СЕЙЧАС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932688" y="2560320"/>
            <a:ext cx="841248" cy="438912"/>
          </a:xfrm>
          <a:prstGeom prst="roundRect">
            <a:avLst/>
          </a:prstGeom>
          <a:solidFill>
            <a:srgbClr val="FFF3D8"/>
          </a:solidFill>
          <a:ln w="10160">
            <a:solidFill>
              <a:srgbClr val="EAA4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62432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EA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Письмо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1911096" y="2971800"/>
            <a:ext cx="841248" cy="438912"/>
          </a:xfrm>
          <a:prstGeom prst="roundRect">
            <a:avLst/>
          </a:prstGeom>
          <a:solidFill>
            <a:srgbClr val="E9EEFF"/>
          </a:solidFill>
          <a:ln w="10160">
            <a:solidFill>
              <a:srgbClr val="517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11096" y="303580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517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Чат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2880360" y="2450592"/>
            <a:ext cx="841248" cy="438912"/>
          </a:xfrm>
          <a:prstGeom prst="roundRect">
            <a:avLst/>
          </a:prstGeom>
          <a:solidFill>
            <a:srgbClr val="EEE8FA"/>
          </a:solidFill>
          <a:ln w="10160">
            <a:solidFill>
              <a:srgbClr val="8567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80360" y="2514600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8567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Файл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3246120" y="3154680"/>
            <a:ext cx="841248" cy="438912"/>
          </a:xfrm>
          <a:prstGeom prst="roundRect">
            <a:avLst/>
          </a:prstGeom>
          <a:solidFill>
            <a:srgbClr val="DDF7F2"/>
          </a:solidFill>
          <a:ln w="10160">
            <a:solidFill>
              <a:srgbClr val="30B8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321868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30B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Звонок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941832" y="337413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Информация разбросана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4590288" y="23774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17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22392" y="1755648"/>
            <a:ext cx="6153912" cy="1975104"/>
          </a:xfrm>
          <a:prstGeom prst="roundRect">
            <a:avLst/>
          </a:prstGeom>
          <a:solidFill>
            <a:srgbClr val="14213D"/>
          </a:solidFill>
          <a:ln w="10160">
            <a:solidFill>
              <a:srgbClr val="14213D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05856" y="1993392"/>
            <a:ext cx="1426464" cy="310896"/>
          </a:xfrm>
          <a:prstGeom prst="roundRect">
            <a:avLst/>
          </a:prstGeom>
          <a:solidFill>
            <a:srgbClr val="193C43"/>
          </a:solidFill>
          <a:ln w="10160">
            <a:solidFill>
              <a:srgbClr val="193C4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79008" y="202082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30B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ВНЕДРЕНИЯ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5751576" y="2514600"/>
            <a:ext cx="1874520" cy="658368"/>
          </a:xfrm>
          <a:prstGeom prst="roundRect">
            <a:avLst/>
          </a:prstGeom>
          <a:solidFill>
            <a:srgbClr val="273148"/>
          </a:solidFill>
          <a:ln w="10160">
            <a:solidFill>
              <a:srgbClr val="273148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51576" y="263347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Чаты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818120" y="2514600"/>
            <a:ext cx="1508760" cy="658368"/>
          </a:xfrm>
          <a:prstGeom prst="roundRect">
            <a:avLst/>
          </a:prstGeom>
          <a:solidFill>
            <a:srgbClr val="20424A"/>
          </a:solidFill>
          <a:ln w="10160">
            <a:solidFill>
              <a:srgbClr val="20424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18120" y="263347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D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Файлы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528048" y="2514600"/>
            <a:ext cx="1700784" cy="658368"/>
          </a:xfrm>
          <a:prstGeom prst="roundRect">
            <a:avLst/>
          </a:prstGeom>
          <a:solidFill>
            <a:srgbClr val="30365A"/>
          </a:solidFill>
          <a:ln w="10160">
            <a:solidFill>
              <a:srgbClr val="30365A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28048" y="2633472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E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Объявления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806440" y="3310128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9EA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связано общей историей и поиском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612648" y="4078224"/>
            <a:ext cx="2542032" cy="14996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0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5528" y="4261104"/>
            <a:ext cx="420624" cy="420624"/>
          </a:xfrm>
          <a:prstGeom prst="roundRect">
            <a:avLst/>
          </a:prstGeom>
          <a:solidFill>
            <a:srgbClr val="E9EEFF"/>
          </a:solidFill>
          <a:ln w="10160">
            <a:solidFill>
              <a:srgbClr val="E9EE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79392"/>
            <a:ext cx="4206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517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30" dirty="0"/>
          </a:p>
        </p:txBody>
      </p:sp>
      <p:sp>
        <p:nvSpPr>
          <p:cNvPr id="31" name="Text 29"/>
          <p:cNvSpPr/>
          <p:nvPr/>
        </p:nvSpPr>
        <p:spPr>
          <a:xfrm>
            <a:off x="1335024" y="4242816"/>
            <a:ext cx="1600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Быстрее координация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95528" y="4800600"/>
            <a:ext cx="2176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Нужные коллеги и обсуждения доступны в одном месте.</a:t>
            </a:r>
            <a:endParaRPr lang="en-US" sz="870" dirty="0"/>
          </a:p>
        </p:txBody>
      </p:sp>
      <p:sp>
        <p:nvSpPr>
          <p:cNvPr id="33" name="Shape 31"/>
          <p:cNvSpPr/>
          <p:nvPr/>
        </p:nvSpPr>
        <p:spPr>
          <a:xfrm>
            <a:off x="3410712" y="4078224"/>
            <a:ext cx="2542032" cy="14996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0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93592" y="4261104"/>
            <a:ext cx="420624" cy="420624"/>
          </a:xfrm>
          <a:prstGeom prst="roundRect">
            <a:avLst/>
          </a:prstGeom>
          <a:solidFill>
            <a:srgbClr val="DDF7F2"/>
          </a:solidFill>
          <a:ln w="10160">
            <a:solidFill>
              <a:srgbClr val="DDF7F2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93592" y="4279392"/>
            <a:ext cx="4206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30B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30" dirty="0"/>
          </a:p>
        </p:txBody>
      </p:sp>
      <p:sp>
        <p:nvSpPr>
          <p:cNvPr id="36" name="Text 34"/>
          <p:cNvSpPr/>
          <p:nvPr/>
        </p:nvSpPr>
        <p:spPr>
          <a:xfrm>
            <a:off x="4133088" y="4242816"/>
            <a:ext cx="1600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Меньше потерь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3593592" y="4800600"/>
            <a:ext cx="2176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Файлы, сообщения и решения сохраняют общий контекст.</a:t>
            </a:r>
            <a:endParaRPr lang="en-US" sz="870" dirty="0"/>
          </a:p>
        </p:txBody>
      </p:sp>
      <p:sp>
        <p:nvSpPr>
          <p:cNvPr id="38" name="Shape 36"/>
          <p:cNvSpPr/>
          <p:nvPr/>
        </p:nvSpPr>
        <p:spPr>
          <a:xfrm>
            <a:off x="6208776" y="4078224"/>
            <a:ext cx="2542032" cy="14996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0E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91656" y="4261104"/>
            <a:ext cx="420624" cy="420624"/>
          </a:xfrm>
          <a:prstGeom prst="roundRect">
            <a:avLst/>
          </a:prstGeom>
          <a:solidFill>
            <a:srgbClr val="FFF3D8"/>
          </a:solidFill>
          <a:ln w="10160">
            <a:solidFill>
              <a:srgbClr val="FFF3D8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91656" y="4279392"/>
            <a:ext cx="4206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A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30" dirty="0"/>
          </a:p>
        </p:txBody>
      </p:sp>
      <p:sp>
        <p:nvSpPr>
          <p:cNvPr id="41" name="Text 39"/>
          <p:cNvSpPr/>
          <p:nvPr/>
        </p:nvSpPr>
        <p:spPr>
          <a:xfrm>
            <a:off x="6931152" y="4242816"/>
            <a:ext cx="1600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Адресные объявления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391656" y="4800600"/>
            <a:ext cx="2176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Информацию можно направлять нужной группе сотрудников.</a:t>
            </a:r>
            <a:endParaRPr lang="en-US" sz="870" dirty="0"/>
          </a:p>
        </p:txBody>
      </p:sp>
      <p:sp>
        <p:nvSpPr>
          <p:cNvPr id="43" name="Shape 41"/>
          <p:cNvSpPr/>
          <p:nvPr/>
        </p:nvSpPr>
        <p:spPr>
          <a:xfrm>
            <a:off x="9006840" y="4078224"/>
            <a:ext cx="2542032" cy="14996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0E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189720" y="4261104"/>
            <a:ext cx="420624" cy="420624"/>
          </a:xfrm>
          <a:prstGeom prst="roundRect">
            <a:avLst/>
          </a:prstGeom>
          <a:solidFill>
            <a:srgbClr val="E4F5EB"/>
          </a:solidFill>
          <a:ln w="10160">
            <a:solidFill>
              <a:srgbClr val="E4F5EB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89720" y="4279392"/>
            <a:ext cx="4206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37A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30" dirty="0"/>
          </a:p>
        </p:txBody>
      </p:sp>
      <p:sp>
        <p:nvSpPr>
          <p:cNvPr id="46" name="Text 44"/>
          <p:cNvSpPr/>
          <p:nvPr/>
        </p:nvSpPr>
        <p:spPr>
          <a:xfrm>
            <a:off x="9729216" y="4242816"/>
            <a:ext cx="1600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внутри УСЗН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9189720" y="4800600"/>
            <a:ext cx="2176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 определяется служебными ролями и подразделениями.</a:t>
            </a:r>
            <a:endParaRPr lang="en-US" sz="870" dirty="0"/>
          </a:p>
        </p:txBody>
      </p:sp>
      <p:sp>
        <p:nvSpPr>
          <p:cNvPr id="48" name="Shape 46"/>
          <p:cNvSpPr/>
          <p:nvPr/>
        </p:nvSpPr>
        <p:spPr>
          <a:xfrm>
            <a:off x="612648" y="5843016"/>
            <a:ext cx="10972800" cy="411480"/>
          </a:xfrm>
          <a:prstGeom prst="roundRect">
            <a:avLst/>
          </a:prstGeom>
          <a:solidFill>
            <a:srgbClr val="E9EEFF"/>
          </a:solidFill>
          <a:ln w="10160">
            <a:solidFill>
              <a:srgbClr val="E9EEFF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68680" y="5907024"/>
            <a:ext cx="10469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157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Показатели эффекта будут определены до запуска и оценены после внедрения системы.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691A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178FF"/>
          </a:solidFill>
          <a:ln w="10160">
            <a:solidFill>
              <a:srgbClr val="517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" y="594360"/>
            <a:ext cx="1847088" cy="310896"/>
          </a:xfrm>
          <a:prstGeom prst="roundRect">
            <a:avLst/>
          </a:prstGeom>
          <a:solidFill>
            <a:srgbClr val="183941"/>
          </a:solidFill>
          <a:ln w="10160">
            <a:solidFill>
              <a:srgbClr val="18394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" y="621792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30B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 РУКОВОДСТВА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694944" y="1234440"/>
            <a:ext cx="6675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Предлагается поддержать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94944" y="1874520"/>
            <a:ext cx="7589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8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создание и внедрение системы коммуникации УСЗН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13232" y="3136392"/>
            <a:ext cx="7086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9EA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 проекта — действующая система, которой сотрудники пользуются для рабочих сообщений, объявлений и обмена материалами.</a:t>
            </a:r>
            <a:endParaRPr lang="en-US" sz="1340" dirty="0"/>
          </a:p>
        </p:txBody>
      </p:sp>
      <p:sp>
        <p:nvSpPr>
          <p:cNvPr id="8" name="Shape 6"/>
          <p:cNvSpPr/>
          <p:nvPr/>
        </p:nvSpPr>
        <p:spPr>
          <a:xfrm>
            <a:off x="722376" y="4370832"/>
            <a:ext cx="329184" cy="329184"/>
          </a:xfrm>
          <a:prstGeom prst="ellipse">
            <a:avLst/>
          </a:prstGeom>
          <a:solidFill>
            <a:srgbClr val="5178FF"/>
          </a:solidFill>
          <a:ln w="10160">
            <a:solidFill>
              <a:srgbClr val="5178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" y="4379976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225296" y="4370832"/>
            <a:ext cx="6309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E8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Принять принципиальное решение о внедрении</a:t>
            </a:r>
            <a:endParaRPr lang="en-US" sz="1130" dirty="0"/>
          </a:p>
        </p:txBody>
      </p:sp>
      <p:sp>
        <p:nvSpPr>
          <p:cNvPr id="11" name="Shape 9"/>
          <p:cNvSpPr/>
          <p:nvPr/>
        </p:nvSpPr>
        <p:spPr>
          <a:xfrm>
            <a:off x="722376" y="4937760"/>
            <a:ext cx="329184" cy="329184"/>
          </a:xfrm>
          <a:prstGeom prst="ellipse">
            <a:avLst/>
          </a:prstGeom>
          <a:solidFill>
            <a:srgbClr val="273148"/>
          </a:solidFill>
          <a:ln w="10160">
            <a:solidFill>
              <a:srgbClr val="27314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" y="494690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225296" y="4937760"/>
            <a:ext cx="6309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E8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Назначить руководителя-заказчика и ответственных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722376" y="5504688"/>
            <a:ext cx="329184" cy="329184"/>
          </a:xfrm>
          <a:prstGeom prst="ellipse">
            <a:avLst/>
          </a:prstGeom>
          <a:solidFill>
            <a:srgbClr val="273148"/>
          </a:solidFill>
          <a:ln w="10160">
            <a:solidFill>
              <a:srgbClr val="27314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" y="551383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225296" y="5504688"/>
            <a:ext cx="6309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E8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Определить подразделения и сотрудников для участия в проекте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8385048" y="1207008"/>
            <a:ext cx="2926080" cy="4498848"/>
          </a:xfrm>
          <a:prstGeom prst="roundRect">
            <a:avLst/>
          </a:prstGeom>
          <a:solidFill>
            <a:srgbClr val="202A40"/>
          </a:solidFill>
          <a:ln w="10160">
            <a:solidFill>
              <a:srgbClr val="3341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77656" y="1572768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spc="110" kern="0" dirty="0">
                <a:solidFill>
                  <a:srgbClr val="30B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ЦЕЛЕВОЙ РЕЗУЛЬТАТ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8677656" y="2084832"/>
            <a:ext cx="22128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система</a:t>
            </a:r>
            <a:endParaRPr lang="en-US" sz="2100" dirty="0"/>
          </a:p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внутренних</a:t>
            </a:r>
            <a:endParaRPr lang="en-US" sz="2100" dirty="0"/>
          </a:p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коммуникаций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8677656" y="3675888"/>
            <a:ext cx="2148840" cy="0"/>
          </a:xfrm>
          <a:prstGeom prst="line">
            <a:avLst/>
          </a:prstGeom>
          <a:noFill/>
          <a:ln w="10160">
            <a:solidFill>
              <a:srgbClr val="43506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77656" y="4005072"/>
            <a:ext cx="256032" cy="256032"/>
          </a:xfrm>
          <a:prstGeom prst="ellipse">
            <a:avLst/>
          </a:prstGeom>
          <a:solidFill>
            <a:srgbClr val="37A66B"/>
          </a:solidFill>
          <a:ln w="10160">
            <a:solidFill>
              <a:srgbClr val="37A66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77656" y="400050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061704" y="3986784"/>
            <a:ext cx="17922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Сотрудники подключены</a:t>
            </a:r>
            <a:endParaRPr lang="en-US" sz="1070" dirty="0"/>
          </a:p>
        </p:txBody>
      </p:sp>
      <p:sp>
        <p:nvSpPr>
          <p:cNvPr id="24" name="Shape 22"/>
          <p:cNvSpPr/>
          <p:nvPr/>
        </p:nvSpPr>
        <p:spPr>
          <a:xfrm>
            <a:off x="8677656" y="4498848"/>
            <a:ext cx="256032" cy="256032"/>
          </a:xfrm>
          <a:prstGeom prst="ellipse">
            <a:avLst/>
          </a:prstGeom>
          <a:solidFill>
            <a:srgbClr val="37A66B"/>
          </a:solidFill>
          <a:ln w="10160">
            <a:solidFill>
              <a:srgbClr val="37A66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77656" y="4494276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9061704" y="4480560"/>
            <a:ext cx="17922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сценарии работают</a:t>
            </a:r>
            <a:endParaRPr lang="en-US" sz="1070" dirty="0"/>
          </a:p>
        </p:txBody>
      </p:sp>
      <p:sp>
        <p:nvSpPr>
          <p:cNvPr id="27" name="Shape 25"/>
          <p:cNvSpPr/>
          <p:nvPr/>
        </p:nvSpPr>
        <p:spPr>
          <a:xfrm>
            <a:off x="8677656" y="4992624"/>
            <a:ext cx="256032" cy="256032"/>
          </a:xfrm>
          <a:prstGeom prst="ellipse">
            <a:avLst/>
          </a:prstGeom>
          <a:solidFill>
            <a:srgbClr val="37A66B"/>
          </a:solidFill>
          <a:ln w="10160">
            <a:solidFill>
              <a:srgbClr val="37A66B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77656" y="4988052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061704" y="4974336"/>
            <a:ext cx="17922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Рабочее общение перенесено</a:t>
            </a:r>
            <a:endParaRPr lang="en-US" sz="1070" dirty="0"/>
          </a:p>
        </p:txBody>
      </p:sp>
      <p:sp>
        <p:nvSpPr>
          <p:cNvPr id="30" name="Text 28"/>
          <p:cNvSpPr/>
          <p:nvPr/>
        </p:nvSpPr>
        <p:spPr>
          <a:xfrm>
            <a:off x="713232" y="643737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9EA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коммуникации УСЗН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УСЗН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Система коммуникации УСЗН</dc:title>
  <dc:subject>Предложение о внедрении внутренней системы коммуникации</dc:subject>
  <dc:creator>Проект системы коммуникации УСЗН</dc:creator>
  <cp:lastModifiedBy>Проект системы коммуникации УСЗН</cp:lastModifiedBy>
  <cp:revision>1</cp:revision>
  <dcterms:created xsi:type="dcterms:W3CDTF">2026-07-24T07:55:18Z</dcterms:created>
  <dcterms:modified xsi:type="dcterms:W3CDTF">2026-07-24T07:55:18Z</dcterms:modified>
</cp:coreProperties>
</file>